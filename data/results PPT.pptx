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7" r:id="rId9"/>
    <p:sldId id="264" r:id="rId10"/>
    <p:sldId id="265" r:id="rId11"/>
    <p:sldId id="266" r:id="rId12"/>
    <p:sldId id="261" r:id="rId13"/>
    <p:sldId id="268" r:id="rId14"/>
    <p:sldId id="270" r:id="rId15"/>
    <p:sldId id="269" r:id="rId16"/>
    <p:sldId id="271" r:id="rId17"/>
    <p:sldId id="273" r:id="rId18"/>
    <p:sldId id="272" r:id="rId19"/>
    <p:sldId id="274" r:id="rId20"/>
    <p:sldId id="275" r:id="rId21"/>
    <p:sldId id="277" r:id="rId22"/>
    <p:sldId id="279" r:id="rId23"/>
    <p:sldId id="280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9" autoAdjust="0"/>
    <p:restoredTop sz="94660"/>
  </p:normalViewPr>
  <p:slideViewPr>
    <p:cSldViewPr snapToGrid="0">
      <p:cViewPr>
        <p:scale>
          <a:sx n="80" d="100"/>
          <a:sy n="80" d="100"/>
        </p:scale>
        <p:origin x="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59EDF-60A3-4BB1-8558-FC0A63D93C24}" type="datetimeFigureOut">
              <a:rPr lang="aa-ET" smtClean="0"/>
              <a:t>12/08/2025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05D35-5071-4F2A-9AA3-6E873B086D6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78708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a-ET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63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44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32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4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575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812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5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00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4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741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358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34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68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99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543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38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a-ET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e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2337" y="1593852"/>
            <a:ext cx="7807325" cy="1562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tx2"/>
                </a:solidFill>
              </a:rPr>
              <a:t>The role of ATP8B1 (rs766737165) in the susceptibility to gallstone disease in Pakistani population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3128" y="4121146"/>
            <a:ext cx="7005742" cy="11430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Syed Muhammad Ali Shirazi (SP22-BSO-049)</a:t>
            </a: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Ahmad Malik (SP22-BSO-032)</a:t>
            </a:r>
          </a:p>
        </p:txBody>
      </p:sp>
    </p:spTree>
    <p:extLst>
      <p:ext uri="{BB962C8B-B14F-4D97-AF65-F5344CB8AC3E}">
        <p14:creationId xmlns:p14="http://schemas.microsoft.com/office/powerpoint/2010/main" val="2650507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9200" y="1625600"/>
            <a:ext cx="7294996" cy="2035174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/>
              <a:t>DNA GEL Electrophoresis Results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F902A5A-5FDC-189A-2A31-34BD8B419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4400" y="4127500"/>
            <a:ext cx="3789796" cy="742480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Results</a:t>
            </a:r>
            <a:endParaRPr lang="aa-ET" sz="4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28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4894" y="898337"/>
            <a:ext cx="234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  <a:r>
              <a:rPr lang="en-US" baseline="30000" dirty="0"/>
              <a:t>th</a:t>
            </a:r>
            <a:r>
              <a:rPr lang="en-US" dirty="0"/>
              <a:t> October,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65" y="2487433"/>
            <a:ext cx="306517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7</a:t>
            </a:r>
          </a:p>
          <a:p>
            <a:endParaRPr lang="en-US" dirty="0"/>
          </a:p>
          <a:p>
            <a:r>
              <a:rPr lang="en-US" dirty="0"/>
              <a:t>1: C63</a:t>
            </a:r>
          </a:p>
          <a:p>
            <a:r>
              <a:rPr lang="en-US" dirty="0"/>
              <a:t>2: C64</a:t>
            </a:r>
          </a:p>
          <a:p>
            <a:r>
              <a:rPr lang="en-US" dirty="0"/>
              <a:t>3: C65</a:t>
            </a:r>
          </a:p>
          <a:p>
            <a:r>
              <a:rPr lang="en-US" dirty="0"/>
              <a:t>4: C66</a:t>
            </a:r>
          </a:p>
          <a:p>
            <a:r>
              <a:rPr lang="en-US" dirty="0"/>
              <a:t>5: C68</a:t>
            </a:r>
          </a:p>
          <a:p>
            <a:r>
              <a:rPr lang="en-US" dirty="0"/>
              <a:t>6: C69</a:t>
            </a:r>
          </a:p>
          <a:p>
            <a:r>
              <a:rPr lang="en-US" dirty="0"/>
              <a:t>7: C70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619044"/>
              </p:ext>
            </p:extLst>
          </p:nvPr>
        </p:nvGraphicFramePr>
        <p:xfrm>
          <a:off x="4144137" y="2381040"/>
          <a:ext cx="649381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</a:t>
                      </a:r>
                      <a:r>
                        <a:rPr lang="en-US" baseline="0" dirty="0"/>
                        <a:t> x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</a:t>
                      </a:r>
                      <a:r>
                        <a:rPr lang="en-US" baseline="0" dirty="0"/>
                        <a:t> Reverse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81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C62B1C-7694-922A-514F-8F2798268E88}"/>
              </a:ext>
            </a:extLst>
          </p:cNvPr>
          <p:cNvSpPr txBox="1"/>
          <p:nvPr/>
        </p:nvSpPr>
        <p:spPr>
          <a:xfrm>
            <a:off x="5097970" y="3632200"/>
            <a:ext cx="199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bands appeared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6262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B596-FBBB-D34C-0CB2-85EC2A31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0C07-F897-3C4A-1569-9AE7645F9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41E7B-120A-FCB4-D3B4-1D5D43515702}"/>
              </a:ext>
            </a:extLst>
          </p:cNvPr>
          <p:cNvSpPr txBox="1"/>
          <p:nvPr/>
        </p:nvSpPr>
        <p:spPr>
          <a:xfrm>
            <a:off x="1254894" y="898337"/>
            <a:ext cx="2343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  <a:r>
              <a:rPr lang="en-US" baseline="30000" dirty="0"/>
              <a:t>th</a:t>
            </a:r>
            <a:r>
              <a:rPr lang="en-US" dirty="0"/>
              <a:t> October,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C1ACC-8E8D-E353-9D52-24A08ED4A48C}"/>
              </a:ext>
            </a:extLst>
          </p:cNvPr>
          <p:cNvSpPr txBox="1"/>
          <p:nvPr/>
        </p:nvSpPr>
        <p:spPr>
          <a:xfrm>
            <a:off x="1078965" y="2487433"/>
            <a:ext cx="306517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7</a:t>
            </a:r>
          </a:p>
          <a:p>
            <a:endParaRPr lang="en-US" dirty="0"/>
          </a:p>
          <a:p>
            <a:r>
              <a:rPr lang="en-US" dirty="0"/>
              <a:t>1: C63</a:t>
            </a:r>
          </a:p>
          <a:p>
            <a:r>
              <a:rPr lang="en-US" dirty="0"/>
              <a:t>2: C64</a:t>
            </a:r>
          </a:p>
          <a:p>
            <a:r>
              <a:rPr lang="en-US" dirty="0"/>
              <a:t>3: C65</a:t>
            </a:r>
          </a:p>
          <a:p>
            <a:r>
              <a:rPr lang="en-US" dirty="0"/>
              <a:t>4: C66</a:t>
            </a:r>
          </a:p>
          <a:p>
            <a:r>
              <a:rPr lang="en-US" dirty="0"/>
              <a:t>5: C68</a:t>
            </a:r>
          </a:p>
          <a:p>
            <a:r>
              <a:rPr lang="en-US" dirty="0"/>
              <a:t>6: C69</a:t>
            </a:r>
          </a:p>
          <a:p>
            <a:r>
              <a:rPr lang="en-US" dirty="0"/>
              <a:t>7: C70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7B0A80-213D-C2FD-35CF-DB253D16417B}"/>
              </a:ext>
            </a:extLst>
          </p:cNvPr>
          <p:cNvGraphicFramePr>
            <a:graphicFrameLocks noGrp="1"/>
          </p:cNvGraphicFramePr>
          <p:nvPr/>
        </p:nvGraphicFramePr>
        <p:xfrm>
          <a:off x="4144137" y="2381040"/>
          <a:ext cx="649381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</a:t>
                      </a:r>
                      <a:r>
                        <a:rPr lang="en-US" baseline="0" dirty="0"/>
                        <a:t> x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</a:t>
                      </a:r>
                      <a:r>
                        <a:rPr lang="en-US" baseline="0" dirty="0"/>
                        <a:t> Reverse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91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0388-0487-0D8A-0492-29E55A9D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plastic&#10;&#10;AI-generated content may be incorrect.">
            <a:extLst>
              <a:ext uri="{FF2B5EF4-FFF2-40B4-BE49-F238E27FC236}">
                <a16:creationId xmlns:a16="http://schemas.microsoft.com/office/drawing/2014/main" id="{7FC88F54-CCDA-6E26-914C-590E968F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500" r="41852"/>
          <a:stretch>
            <a:fillRect/>
          </a:stretch>
        </p:blipFill>
        <p:spPr>
          <a:xfrm rot="16200000">
            <a:off x="951002" y="707901"/>
            <a:ext cx="4845360" cy="4721912"/>
          </a:xfrm>
          <a:prstGeom prst="rect">
            <a:avLst/>
          </a:prstGeom>
        </p:spPr>
      </p:pic>
      <p:pic>
        <p:nvPicPr>
          <p:cNvPr id="11" name="Picture 10" descr="A close-up of a dna test&#10;&#10;AI-generated content may be incorrect.">
            <a:extLst>
              <a:ext uri="{FF2B5EF4-FFF2-40B4-BE49-F238E27FC236}">
                <a16:creationId xmlns:a16="http://schemas.microsoft.com/office/drawing/2014/main" id="{2753F1E6-9B23-76A3-72A9-29FFAAA35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" t="18352" r="1732" b="6374"/>
          <a:stretch>
            <a:fillRect/>
          </a:stretch>
        </p:blipFill>
        <p:spPr>
          <a:xfrm>
            <a:off x="6266688" y="646176"/>
            <a:ext cx="4721913" cy="48453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33D0C5-087F-DDB4-120B-74F100B06A04}"/>
              </a:ext>
            </a:extLst>
          </p:cNvPr>
          <p:cNvSpPr txBox="1"/>
          <p:nvPr/>
        </p:nvSpPr>
        <p:spPr>
          <a:xfrm>
            <a:off x="2292096" y="558036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view</a:t>
            </a:r>
            <a:endParaRPr lang="aa-E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94503-1D5D-224A-3E50-185A6E570181}"/>
              </a:ext>
            </a:extLst>
          </p:cNvPr>
          <p:cNvSpPr txBox="1"/>
          <p:nvPr/>
        </p:nvSpPr>
        <p:spPr>
          <a:xfrm>
            <a:off x="7622189" y="5580364"/>
            <a:ext cx="243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Contrast &amp; Labelled </a:t>
            </a:r>
            <a:endParaRPr lang="aa-ET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81ACCE-FFCA-2A68-4BB0-C34CF92F38BD}"/>
              </a:ext>
            </a:extLst>
          </p:cNvPr>
          <p:cNvCxnSpPr>
            <a:cxnSpLocks/>
          </p:cNvCxnSpPr>
          <p:nvPr/>
        </p:nvCxnSpPr>
        <p:spPr>
          <a:xfrm flipV="1">
            <a:off x="10058401" y="3767328"/>
            <a:ext cx="0" cy="292608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45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DB9F-128F-C023-E05F-C9B9D24F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160E-9722-4008-7AB1-9CA2B9F1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A87F4-B5B3-385A-C12B-88594CD1046E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r>
              <a:rPr lang="en-US" baseline="30000" dirty="0"/>
              <a:t>th</a:t>
            </a:r>
            <a:r>
              <a:rPr lang="en-US" dirty="0"/>
              <a:t> November,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BDC0B-BF31-2120-4BAB-B06F6AA5FDB6}"/>
              </a:ext>
            </a:extLst>
          </p:cNvPr>
          <p:cNvSpPr txBox="1"/>
          <p:nvPr/>
        </p:nvSpPr>
        <p:spPr>
          <a:xfrm>
            <a:off x="949557" y="2437980"/>
            <a:ext cx="306517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7</a:t>
            </a:r>
          </a:p>
          <a:p>
            <a:endParaRPr lang="en-US" dirty="0"/>
          </a:p>
          <a:p>
            <a:r>
              <a:rPr lang="en-US" dirty="0"/>
              <a:t>1: D278</a:t>
            </a:r>
          </a:p>
          <a:p>
            <a:r>
              <a:rPr lang="en-US" dirty="0"/>
              <a:t>2: D283</a:t>
            </a:r>
          </a:p>
          <a:p>
            <a:r>
              <a:rPr lang="en-US" dirty="0"/>
              <a:t>3: D286</a:t>
            </a:r>
          </a:p>
          <a:p>
            <a:r>
              <a:rPr lang="en-US" dirty="0"/>
              <a:t>4: D290</a:t>
            </a:r>
          </a:p>
          <a:p>
            <a:r>
              <a:rPr lang="en-US" dirty="0"/>
              <a:t>5: D291</a:t>
            </a:r>
          </a:p>
          <a:p>
            <a:r>
              <a:rPr lang="en-US" dirty="0"/>
              <a:t>6: D297</a:t>
            </a:r>
          </a:p>
          <a:p>
            <a:r>
              <a:rPr lang="en-US" dirty="0"/>
              <a:t>7: D298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36196F-BC89-1985-DC96-8AB3CA1D3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730370"/>
              </p:ext>
            </p:extLst>
          </p:nvPr>
        </p:nvGraphicFramePr>
        <p:xfrm>
          <a:off x="4144137" y="2381040"/>
          <a:ext cx="6493815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</a:t>
                      </a:r>
                      <a:r>
                        <a:rPr lang="en-US" baseline="0" dirty="0"/>
                        <a:t> x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</a:t>
                      </a:r>
                      <a:r>
                        <a:rPr lang="en-US" baseline="0" dirty="0"/>
                        <a:t> Reverse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7.1 x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819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7002-421E-CB24-89ED-D69FB4853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582BB34-25D4-0C3E-98DE-F70F0D4E1BE7}"/>
              </a:ext>
            </a:extLst>
          </p:cNvPr>
          <p:cNvSpPr txBox="1"/>
          <p:nvPr/>
        </p:nvSpPr>
        <p:spPr>
          <a:xfrm>
            <a:off x="2292096" y="558036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view</a:t>
            </a:r>
            <a:endParaRPr lang="aa-E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50BE2-28A2-96FC-321D-117203688722}"/>
              </a:ext>
            </a:extLst>
          </p:cNvPr>
          <p:cNvSpPr txBox="1"/>
          <p:nvPr/>
        </p:nvSpPr>
        <p:spPr>
          <a:xfrm>
            <a:off x="7622189" y="5580364"/>
            <a:ext cx="243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Contrast &amp; Labelled </a:t>
            </a:r>
            <a:endParaRPr lang="aa-ET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420C9B-3937-5CFA-488B-72D027687A92}"/>
              </a:ext>
            </a:extLst>
          </p:cNvPr>
          <p:cNvCxnSpPr>
            <a:cxnSpLocks/>
          </p:cNvCxnSpPr>
          <p:nvPr/>
        </p:nvCxnSpPr>
        <p:spPr>
          <a:xfrm flipV="1">
            <a:off x="10058401" y="3767328"/>
            <a:ext cx="0" cy="292608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purple and blue rectangular object&#10;&#10;AI-generated content may be incorrect.">
            <a:extLst>
              <a:ext uri="{FF2B5EF4-FFF2-40B4-BE49-F238E27FC236}">
                <a16:creationId xmlns:a16="http://schemas.microsoft.com/office/drawing/2014/main" id="{6B848206-CAEE-E937-AE7F-75169078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7" t="31596" r="19200" b="4119"/>
          <a:stretch>
            <a:fillRect/>
          </a:stretch>
        </p:blipFill>
        <p:spPr>
          <a:xfrm rot="5400000">
            <a:off x="1170413" y="634712"/>
            <a:ext cx="4233477" cy="5076587"/>
          </a:xfrm>
          <a:prstGeom prst="rect">
            <a:avLst/>
          </a:prstGeom>
        </p:spPr>
      </p:pic>
      <p:pic>
        <p:nvPicPr>
          <p:cNvPr id="5" name="Picture 4" descr="A black and white photo of a film strip&#10;&#10;AI-generated content may be incorrect.">
            <a:extLst>
              <a:ext uri="{FF2B5EF4-FFF2-40B4-BE49-F238E27FC236}">
                <a16:creationId xmlns:a16="http://schemas.microsoft.com/office/drawing/2014/main" id="{A4900004-238B-9F28-7202-89FA66576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485"/>
          <a:stretch>
            <a:fillRect/>
          </a:stretch>
        </p:blipFill>
        <p:spPr>
          <a:xfrm rot="16200000">
            <a:off x="6506082" y="519471"/>
            <a:ext cx="4233475" cy="530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DB9F-128F-C023-E05F-C9B9D24F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160E-9722-4008-7AB1-9CA2B9F1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A87F4-B5B3-385A-C12B-88594CD1046E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  <a:r>
              <a:rPr lang="en-US" baseline="30000" dirty="0"/>
              <a:t>th</a:t>
            </a:r>
            <a:r>
              <a:rPr lang="en-US" dirty="0"/>
              <a:t> November,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BDC0B-BF31-2120-4BAB-B06F6AA5FDB6}"/>
              </a:ext>
            </a:extLst>
          </p:cNvPr>
          <p:cNvSpPr txBox="1"/>
          <p:nvPr/>
        </p:nvSpPr>
        <p:spPr>
          <a:xfrm>
            <a:off x="949557" y="2437980"/>
            <a:ext cx="306517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52 </a:t>
            </a:r>
          </a:p>
          <a:p>
            <a:r>
              <a:rPr lang="en-US" dirty="0"/>
              <a:t>Number of samples: 9</a:t>
            </a:r>
          </a:p>
          <a:p>
            <a:endParaRPr lang="en-US" dirty="0"/>
          </a:p>
          <a:p>
            <a:r>
              <a:rPr lang="en-US" dirty="0"/>
              <a:t>1: D299</a:t>
            </a:r>
          </a:p>
          <a:p>
            <a:r>
              <a:rPr lang="en-US" dirty="0"/>
              <a:t>2: D310</a:t>
            </a:r>
          </a:p>
          <a:p>
            <a:r>
              <a:rPr lang="en-US" dirty="0"/>
              <a:t>3: D311</a:t>
            </a:r>
          </a:p>
          <a:p>
            <a:r>
              <a:rPr lang="en-US" dirty="0"/>
              <a:t>4: D314</a:t>
            </a:r>
          </a:p>
          <a:p>
            <a:r>
              <a:rPr lang="en-US" dirty="0"/>
              <a:t>5: D318</a:t>
            </a:r>
          </a:p>
          <a:p>
            <a:r>
              <a:rPr lang="en-US" dirty="0"/>
              <a:t>6: D333</a:t>
            </a:r>
          </a:p>
          <a:p>
            <a:r>
              <a:rPr lang="en-US" dirty="0"/>
              <a:t>7: D336</a:t>
            </a:r>
          </a:p>
          <a:p>
            <a:r>
              <a:rPr lang="en-US" dirty="0"/>
              <a:t>8: D337</a:t>
            </a:r>
          </a:p>
          <a:p>
            <a:r>
              <a:rPr lang="en-US" dirty="0"/>
              <a:t>9: D338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36196F-BC89-1985-DC96-8AB3CA1D3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498359"/>
              </p:ext>
            </p:extLst>
          </p:nvPr>
        </p:nvGraphicFramePr>
        <p:xfrm>
          <a:off x="4144137" y="2381040"/>
          <a:ext cx="6493815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8.5</a:t>
                      </a:r>
                      <a:r>
                        <a:rPr lang="en-US" baseline="0" dirty="0"/>
                        <a:t> x 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</a:t>
                      </a:r>
                      <a:r>
                        <a:rPr lang="en-US" baseline="0" dirty="0"/>
                        <a:t> Reverse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6.7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212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7002-421E-CB24-89ED-D69FB4853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79545" y="123568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95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DB9F-128F-C023-E05F-C9B9D24F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160E-9722-4008-7AB1-9CA2B9F1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A87F4-B5B3-385A-C12B-88594CD1046E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  <a:r>
              <a:rPr lang="en-US" baseline="30000" dirty="0"/>
              <a:t>th</a:t>
            </a:r>
            <a:r>
              <a:rPr lang="en-US" dirty="0"/>
              <a:t> November,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BDC0B-BF31-2120-4BAB-B06F6AA5FDB6}"/>
              </a:ext>
            </a:extLst>
          </p:cNvPr>
          <p:cNvSpPr txBox="1"/>
          <p:nvPr/>
        </p:nvSpPr>
        <p:spPr>
          <a:xfrm>
            <a:off x="949557" y="2437980"/>
            <a:ext cx="3065172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52 </a:t>
            </a:r>
          </a:p>
          <a:p>
            <a:r>
              <a:rPr lang="en-US" dirty="0"/>
              <a:t>Number of samples: 10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282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283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286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297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36196F-BC89-1985-DC96-8AB3CA1D3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29286"/>
              </p:ext>
            </p:extLst>
          </p:nvPr>
        </p:nvGraphicFramePr>
        <p:xfrm>
          <a:off x="4119644" y="2944376"/>
          <a:ext cx="6493815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11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r>
                        <a:rPr lang="en-US" baseline="0" dirty="0"/>
                        <a:t> x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</a:t>
                      </a:r>
                      <a:r>
                        <a:rPr lang="en-US" baseline="0" dirty="0"/>
                        <a:t> Reverse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856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7002-421E-CB24-89ED-D69FB4853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582BB34-25D4-0C3E-98DE-F70F0D4E1BE7}"/>
              </a:ext>
            </a:extLst>
          </p:cNvPr>
          <p:cNvSpPr txBox="1"/>
          <p:nvPr/>
        </p:nvSpPr>
        <p:spPr>
          <a:xfrm>
            <a:off x="2549581" y="5576357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view</a:t>
            </a:r>
            <a:endParaRPr lang="aa-E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50BE2-28A2-96FC-321D-117203688722}"/>
              </a:ext>
            </a:extLst>
          </p:cNvPr>
          <p:cNvSpPr txBox="1"/>
          <p:nvPr/>
        </p:nvSpPr>
        <p:spPr>
          <a:xfrm>
            <a:off x="7499725" y="5576357"/>
            <a:ext cx="243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Contrast &amp; Labelled </a:t>
            </a:r>
            <a:endParaRPr lang="aa-ET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01591" y="1724002"/>
            <a:ext cx="2673657" cy="47531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036895" y="1724002"/>
            <a:ext cx="2673657" cy="475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4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F364-1492-7C02-615C-833E698E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C7C9-AEA1-A335-BD68-F393C808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16357-9F56-BAC0-BA4E-5CE32A42AA9B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  <a:r>
              <a:rPr lang="en-US" baseline="30000" dirty="0"/>
              <a:t>th</a:t>
            </a:r>
            <a:r>
              <a:rPr lang="en-US" dirty="0"/>
              <a:t> November,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0E838-E97D-A393-11FD-C35AC89877EB}"/>
              </a:ext>
            </a:extLst>
          </p:cNvPr>
          <p:cNvSpPr txBox="1"/>
          <p:nvPr/>
        </p:nvSpPr>
        <p:spPr>
          <a:xfrm>
            <a:off x="949557" y="2437980"/>
            <a:ext cx="3065172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11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008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009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014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043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G-110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G-111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G-113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G-116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G-128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272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5A4B1B-4D82-EDD9-5A7F-36DB5DC6E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659966"/>
              </p:ext>
            </p:extLst>
          </p:nvPr>
        </p:nvGraphicFramePr>
        <p:xfrm>
          <a:off x="4119644" y="2944376"/>
          <a:ext cx="649381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11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6 x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3.35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68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A537-0445-3A8A-E172-EEAAEC4E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film&#10;&#10;AI-generated content may be incorrect.">
            <a:extLst>
              <a:ext uri="{FF2B5EF4-FFF2-40B4-BE49-F238E27FC236}">
                <a16:creationId xmlns:a16="http://schemas.microsoft.com/office/drawing/2014/main" id="{9E97BA93-9755-7853-DD68-83E0793C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14" r="13511"/>
          <a:stretch>
            <a:fillRect/>
          </a:stretch>
        </p:blipFill>
        <p:spPr>
          <a:xfrm rot="16200000">
            <a:off x="4174672" y="-614211"/>
            <a:ext cx="3842656" cy="85616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21E0E7-FBD9-C62E-F829-1882A6FFD6CC}"/>
              </a:ext>
            </a:extLst>
          </p:cNvPr>
          <p:cNvSpPr txBox="1"/>
          <p:nvPr/>
        </p:nvSpPr>
        <p:spPr>
          <a:xfrm>
            <a:off x="2837780" y="4246659"/>
            <a:ext cx="3321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 with Inner Reverse primer</a:t>
            </a:r>
          </a:p>
          <a:p>
            <a:r>
              <a:rPr lang="en-US" dirty="0"/>
              <a:t> for A allele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65C94-4B9D-948E-D0BF-2F2390534138}"/>
              </a:ext>
            </a:extLst>
          </p:cNvPr>
          <p:cNvSpPr txBox="1"/>
          <p:nvPr/>
        </p:nvSpPr>
        <p:spPr>
          <a:xfrm>
            <a:off x="6577659" y="4246660"/>
            <a:ext cx="3380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 with Inner Forward primer</a:t>
            </a:r>
          </a:p>
          <a:p>
            <a:r>
              <a:rPr lang="en-US" dirty="0"/>
              <a:t> for T allele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03794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D3DC-E381-F154-A1AD-896D64AC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57D0-1C32-7CA9-463F-6955FA23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68626-32AB-9495-42D6-05E06866CBA7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</a:t>
            </a:r>
            <a:r>
              <a:rPr lang="en-US" baseline="30000" dirty="0"/>
              <a:t>th</a:t>
            </a:r>
            <a:r>
              <a:rPr lang="en-US" dirty="0"/>
              <a:t> November,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939BB-3B7E-840D-0D06-723E2DF19D63}"/>
              </a:ext>
            </a:extLst>
          </p:cNvPr>
          <p:cNvSpPr txBox="1"/>
          <p:nvPr/>
        </p:nvSpPr>
        <p:spPr>
          <a:xfrm>
            <a:off x="949557" y="2355787"/>
            <a:ext cx="306517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11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014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274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281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282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290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286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316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318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322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C0480A-B10C-8709-1B9D-1BF684ED9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52130"/>
              </p:ext>
            </p:extLst>
          </p:nvPr>
        </p:nvGraphicFramePr>
        <p:xfrm>
          <a:off x="4119644" y="2944376"/>
          <a:ext cx="6493815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11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6 x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9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3.7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758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CDFB-923C-8AB9-B486-6983D51F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D65419D-35F2-3144-890E-EB456324E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75064" y="-936624"/>
            <a:ext cx="4943473" cy="878839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A339DC-642A-806C-63E8-589E21306D3B}"/>
              </a:ext>
            </a:extLst>
          </p:cNvPr>
          <p:cNvCxnSpPr>
            <a:cxnSpLocks/>
          </p:cNvCxnSpPr>
          <p:nvPr/>
        </p:nvCxnSpPr>
        <p:spPr>
          <a:xfrm flipH="1" flipV="1">
            <a:off x="8382000" y="3200400"/>
            <a:ext cx="254000" cy="368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9A67C4-007A-BB50-A456-E441082A0CA8}"/>
              </a:ext>
            </a:extLst>
          </p:cNvPr>
          <p:cNvCxnSpPr>
            <a:cxnSpLocks/>
          </p:cNvCxnSpPr>
          <p:nvPr/>
        </p:nvCxnSpPr>
        <p:spPr>
          <a:xfrm flipV="1">
            <a:off x="8636000" y="3200400"/>
            <a:ext cx="304800" cy="368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671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53BD-D2A3-361F-2968-1C029409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1473-ED93-ECDA-C06A-F783AEF1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03402-364B-F61E-CAC3-427315DC234E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Dec,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6F560-90F1-6A00-4200-60C476AE888D}"/>
              </a:ext>
            </a:extLst>
          </p:cNvPr>
          <p:cNvSpPr txBox="1"/>
          <p:nvPr/>
        </p:nvSpPr>
        <p:spPr>
          <a:xfrm>
            <a:off x="867153" y="2520887"/>
            <a:ext cx="306517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52 </a:t>
            </a:r>
          </a:p>
          <a:p>
            <a:r>
              <a:rPr lang="en-US" dirty="0"/>
              <a:t>Number of samples: 10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013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275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276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277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313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328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BB7876-F6D0-8BA2-AE8D-31A2E853E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521780"/>
              </p:ext>
            </p:extLst>
          </p:nvPr>
        </p:nvGraphicFramePr>
        <p:xfrm>
          <a:off x="4119644" y="2944376"/>
          <a:ext cx="6493815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11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6 x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9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24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379C5-E9BE-79DF-464A-9DA6E6CE1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photo of a black and white photo of a black and white photo of a black and white photo of a black and white photo of a black and white photo of a black and&#10;&#10;AI-generated content may be incorrect.">
            <a:extLst>
              <a:ext uri="{FF2B5EF4-FFF2-40B4-BE49-F238E27FC236}">
                <a16:creationId xmlns:a16="http://schemas.microsoft.com/office/drawing/2014/main" id="{5F6BDE7C-0A44-297E-BA42-043B2608C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874294" y="-381000"/>
            <a:ext cx="4443412" cy="78993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83B5F-9593-2F8E-6252-EC748BDB7DE6}"/>
              </a:ext>
            </a:extLst>
          </p:cNvPr>
          <p:cNvSpPr txBox="1"/>
          <p:nvPr/>
        </p:nvSpPr>
        <p:spPr>
          <a:xfrm>
            <a:off x="3513221" y="2543620"/>
            <a:ext cx="269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013   275    276    277   313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FB482-9B65-1BBF-F597-233958F81DFF}"/>
              </a:ext>
            </a:extLst>
          </p:cNvPr>
          <p:cNvSpPr txBox="1"/>
          <p:nvPr/>
        </p:nvSpPr>
        <p:spPr>
          <a:xfrm>
            <a:off x="6673516" y="2543620"/>
            <a:ext cx="225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328    341    344    346 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4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0540-F28E-C4F6-E5A4-DE2289EC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1A69-4518-C95E-39EE-4778884B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311AD-DD5D-D59C-156A-497A8223CBC5}"/>
              </a:ext>
            </a:extLst>
          </p:cNvPr>
          <p:cNvSpPr txBox="1"/>
          <p:nvPr/>
        </p:nvSpPr>
        <p:spPr>
          <a:xfrm>
            <a:off x="1100782" y="1004314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Dec,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426FE-D2E9-9DB4-A9A1-C537F3CA878C}"/>
              </a:ext>
            </a:extLst>
          </p:cNvPr>
          <p:cNvSpPr txBox="1"/>
          <p:nvPr/>
        </p:nvSpPr>
        <p:spPr>
          <a:xfrm>
            <a:off x="949557" y="2355787"/>
            <a:ext cx="306517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Annealing temperature: 52 </a:t>
            </a:r>
          </a:p>
          <a:p>
            <a:r>
              <a:rPr lang="en-US" dirty="0"/>
              <a:t>Number of samples: 10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354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355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356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358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359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373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401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403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409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411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4BE8DB-602B-9AEB-850A-52F9B77D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87245"/>
              </p:ext>
            </p:extLst>
          </p:nvPr>
        </p:nvGraphicFramePr>
        <p:xfrm>
          <a:off x="4119644" y="2944376"/>
          <a:ext cx="6493815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11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6 x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9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x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864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C1F23-55B4-A550-0DB9-E820FAD8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77576E5-E7DB-46C7-B0D9-A0AB18787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2C244BC-AB19-460B-9A7B-5BAFE9DE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2D7728D-2CB0-4ADE-B6BF-4BA8ED772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E0EDB8-8162-4D16-9521-52415777B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7060CB3-C139-4548-A73F-74689C929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pic>
        <p:nvPicPr>
          <p:cNvPr id="4" name="Picture 3" descr="A black and white photo of a black and white photo of a black and white photo of a black and white photo of a black and white photo of a black and white photo of a black and&#10;&#10;AI-generated content may be incorrect.">
            <a:extLst>
              <a:ext uri="{FF2B5EF4-FFF2-40B4-BE49-F238E27FC236}">
                <a16:creationId xmlns:a16="http://schemas.microsoft.com/office/drawing/2014/main" id="{FA38B20D-6B94-B6A5-DBA2-20538A149F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20" t="16822" r="8674" b="4948"/>
          <a:stretch>
            <a:fillRect/>
          </a:stretch>
        </p:blipFill>
        <p:spPr>
          <a:xfrm rot="16200000">
            <a:off x="4151311" y="184811"/>
            <a:ext cx="3886200" cy="676103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30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6025A6-7D60-9080-1732-3540916BF6E0}"/>
              </a:ext>
            </a:extLst>
          </p:cNvPr>
          <p:cNvSpPr txBox="1"/>
          <p:nvPr/>
        </p:nvSpPr>
        <p:spPr>
          <a:xfrm>
            <a:off x="3380882" y="2144430"/>
            <a:ext cx="572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354    355    356     358    359     373    401   403    409    411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96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4C3A-14A2-B173-30DE-6E09ADBB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A9F0-166C-A546-29D3-A6656C28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3E833-69A9-4AE1-A822-C1F614CF5A44}"/>
              </a:ext>
            </a:extLst>
          </p:cNvPr>
          <p:cNvSpPr txBox="1"/>
          <p:nvPr/>
        </p:nvSpPr>
        <p:spPr>
          <a:xfrm>
            <a:off x="1100782" y="1188980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Dec 2025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75BF93-7294-CEBA-DD39-930C038DE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36261"/>
              </p:ext>
            </p:extLst>
          </p:nvPr>
        </p:nvGraphicFramePr>
        <p:xfrm>
          <a:off x="4119644" y="2944376"/>
          <a:ext cx="6493815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22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6 x 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9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05F8C6-BCEB-F4BC-4A56-9B3453E4BCF8}"/>
              </a:ext>
            </a:extLst>
          </p:cNvPr>
          <p:cNvSpPr txBox="1"/>
          <p:nvPr/>
        </p:nvSpPr>
        <p:spPr>
          <a:xfrm>
            <a:off x="914400" y="2437497"/>
            <a:ext cx="261481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21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304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306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308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331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332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336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337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338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345</a:t>
            </a:r>
          </a:p>
          <a:p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BAE762-0407-EB92-9581-FE726C5A88A5}"/>
              </a:ext>
            </a:extLst>
          </p:cNvPr>
          <p:cNvSpPr txBox="1"/>
          <p:nvPr/>
        </p:nvSpPr>
        <p:spPr>
          <a:xfrm>
            <a:off x="2186706" y="3157141"/>
            <a:ext cx="15226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350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353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355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356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357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358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359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360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365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366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372</a:t>
            </a:r>
          </a:p>
        </p:txBody>
      </p:sp>
    </p:spTree>
    <p:extLst>
      <p:ext uri="{BB962C8B-B14F-4D97-AF65-F5344CB8AC3E}">
        <p14:creationId xmlns:p14="http://schemas.microsoft.com/office/powerpoint/2010/main" val="322484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868C0-4C02-3D01-7777-673BA5F0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C9C298A1-569A-11A0-FF84-7885ACD69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3F15CE-CC9A-1F87-F701-34B5311BE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77C752-0795-A256-AB7B-7BB79F90C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4CB111-94B5-C3CB-9D34-6F2C905E8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A40F029-F63D-1D02-2DC5-A7FE7F3C6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F1FE02E-D3EB-E4DC-FBF8-831303CC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8419626-A864-5893-B14C-F2E55D63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719F847-F0BD-8C55-9DFC-554AFCC0B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30" name="Rounded Rectangle 21">
              <a:extLst>
                <a:ext uri="{FF2B5EF4-FFF2-40B4-BE49-F238E27FC236}">
                  <a16:creationId xmlns:a16="http://schemas.microsoft.com/office/drawing/2014/main" id="{AC974804-CAA3-9AB2-D80D-460FC36B2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10AB321-D50E-8B4E-22C3-39F079028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45EABD7F-70A3-3BDE-8E2C-5870D5E89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E50AF1B-7864-E38E-41EE-3D0FC97E90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15CDC48-E7DC-B6B2-F96C-BEC7345AE1D8}"/>
              </a:ext>
            </a:extLst>
          </p:cNvPr>
          <p:cNvSpPr txBox="1"/>
          <p:nvPr/>
        </p:nvSpPr>
        <p:spPr>
          <a:xfrm>
            <a:off x="3380882" y="2144430"/>
            <a:ext cx="5727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354    355    356     358    359     373    401   403    409    411</a:t>
            </a:r>
            <a:endParaRPr lang="en-PK" dirty="0">
              <a:solidFill>
                <a:schemeClr val="bg1"/>
              </a:solidFill>
            </a:endParaRPr>
          </a:p>
        </p:txBody>
      </p:sp>
      <p:pic>
        <p:nvPicPr>
          <p:cNvPr id="3" name="Picture 2" descr="A close-up of a film strip&#10;&#10;AI-generated content may be incorrect.">
            <a:extLst>
              <a:ext uri="{FF2B5EF4-FFF2-40B4-BE49-F238E27FC236}">
                <a16:creationId xmlns:a16="http://schemas.microsoft.com/office/drawing/2014/main" id="{6277906E-D778-863B-0B61-E0FA0CAC0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081339" y="-427123"/>
            <a:ext cx="4338138" cy="771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28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906C-3C84-2A45-65AA-D840E269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49BE-2C5E-8C5C-1D19-7749F6F1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033" y="1373646"/>
            <a:ext cx="4121240" cy="631065"/>
          </a:xfrm>
        </p:spPr>
        <p:txBody>
          <a:bodyPr>
            <a:noAutofit/>
          </a:bodyPr>
          <a:lstStyle/>
          <a:p>
            <a:r>
              <a:rPr lang="en-US" sz="3200" dirty="0"/>
              <a:t>ATP8B1 </a:t>
            </a:r>
            <a:r>
              <a:rPr lang="en-US" sz="2400" dirty="0"/>
              <a:t>(rs766737165)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FB4E9-13B6-60C4-8DAA-1455CBDE6290}"/>
              </a:ext>
            </a:extLst>
          </p:cNvPr>
          <p:cNvSpPr txBox="1"/>
          <p:nvPr/>
        </p:nvSpPr>
        <p:spPr>
          <a:xfrm>
            <a:off x="1100782" y="1188980"/>
            <a:ext cx="259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Dec 2025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18ED64-2779-0D86-2610-1C1EB2286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97133"/>
              </p:ext>
            </p:extLst>
          </p:nvPr>
        </p:nvGraphicFramePr>
        <p:xfrm>
          <a:off x="4119644" y="2944376"/>
          <a:ext cx="6493815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0" dirty="0"/>
                        <a:t>eaction Mixture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22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Master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6 x 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Outer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49">
                <a:tc>
                  <a:txBody>
                    <a:bodyPr/>
                    <a:lstStyle/>
                    <a:p>
                      <a:r>
                        <a:rPr lang="en-US" dirty="0"/>
                        <a:t>Inner 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99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Inner 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3.4 x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DNA =</a:t>
                      </a:r>
                      <a:r>
                        <a:rPr lang="en-US" baseline="0" dirty="0"/>
                        <a:t> 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1CD393-9864-0BDC-1511-C8F0DEC6EF71}"/>
              </a:ext>
            </a:extLst>
          </p:cNvPr>
          <p:cNvSpPr txBox="1"/>
          <p:nvPr/>
        </p:nvSpPr>
        <p:spPr>
          <a:xfrm>
            <a:off x="914400" y="2437497"/>
            <a:ext cx="261481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Annealing temperature: 53 </a:t>
            </a:r>
          </a:p>
          <a:p>
            <a:r>
              <a:rPr lang="en-US" dirty="0"/>
              <a:t>Number of samples: 20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101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103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104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108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109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112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115</a:t>
            </a:r>
          </a:p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1A325-B61D-F0C1-0F57-5335157F7B9C}"/>
              </a:ext>
            </a:extLst>
          </p:cNvPr>
          <p:cNvSpPr txBox="1"/>
          <p:nvPr/>
        </p:nvSpPr>
        <p:spPr>
          <a:xfrm>
            <a:off x="2176079" y="3258741"/>
            <a:ext cx="15226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117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118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119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121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122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124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128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131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132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dirty="0"/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1783378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E0BB0-0066-F60B-A9F2-165EBE591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56FDA3A-D784-21FD-66C7-E4625F91A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7D717A1-3118-F594-34FF-AEEFE056D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707133C-2820-A303-D527-4F825A41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0B581C2-3E9B-08CD-B7B2-6E38E5CCC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B01537E-B555-06A4-4702-1BFF5700B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6B35F90-E99C-ECEE-6C00-22750529A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0E7C4D9-31B7-C6A9-08A6-7C95AF3D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CB730884-920A-91FA-44A5-F028AADA6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30" name="Rounded Rectangle 21">
              <a:extLst>
                <a:ext uri="{FF2B5EF4-FFF2-40B4-BE49-F238E27FC236}">
                  <a16:creationId xmlns:a16="http://schemas.microsoft.com/office/drawing/2014/main" id="{AA2765A2-05FB-878A-E7AA-00A01064B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0F445C-AC41-CE26-6B15-262980A8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48F921C0-45A6-BA50-7387-E81EE6FF2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B533C4-F8D9-90B7-0A2F-CB85AE539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pic>
        <p:nvPicPr>
          <p:cNvPr id="3" name="Picture 2" descr="A close-up of a television screen&#10;&#10;AI-generated content may be incorrect.">
            <a:extLst>
              <a:ext uri="{FF2B5EF4-FFF2-40B4-BE49-F238E27FC236}">
                <a16:creationId xmlns:a16="http://schemas.microsoft.com/office/drawing/2014/main" id="{2F00BC1C-D4E1-9CEE-D971-1E774D7BA1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090" t="3519" r="14445" b="5556"/>
          <a:stretch>
            <a:fillRect/>
          </a:stretch>
        </p:blipFill>
        <p:spPr>
          <a:xfrm rot="16200000">
            <a:off x="3923374" y="-1179062"/>
            <a:ext cx="4342078" cy="952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870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7493</TotalTime>
  <Words>925</Words>
  <Application>Microsoft Office PowerPoint</Application>
  <PresentationFormat>Widescreen</PresentationFormat>
  <Paragraphs>526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Garamond</vt:lpstr>
      <vt:lpstr>Organic</vt:lpstr>
      <vt:lpstr>The role of ATP8B1 (rs766737165) in the susceptibility to gallstone disease in Pakistani population</vt:lpstr>
      <vt:lpstr>DNA GEL Electrophoresis Results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  <vt:lpstr>ATP8B1 (rs766737165)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MARCH8(rs2291428) in the susceptibility to gallstone disease in Pakistani population</dc:title>
  <dc:creator>Acer</dc:creator>
  <cp:lastModifiedBy>Muhammad Ali Shirazi</cp:lastModifiedBy>
  <cp:revision>26</cp:revision>
  <dcterms:created xsi:type="dcterms:W3CDTF">2025-10-09T04:48:28Z</dcterms:created>
  <dcterms:modified xsi:type="dcterms:W3CDTF">2025-12-08T11:17:08Z</dcterms:modified>
</cp:coreProperties>
</file>